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5" r:id="rId4"/>
    <p:sldId id="257" r:id="rId5"/>
    <p:sldId id="259" r:id="rId6"/>
    <p:sldId id="260" r:id="rId7"/>
    <p:sldId id="261" r:id="rId8"/>
    <p:sldId id="262" r:id="rId9"/>
    <p:sldId id="263" r:id="rId10"/>
    <p:sldId id="276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9"/>
  </p:normalViewPr>
  <p:slideViewPr>
    <p:cSldViewPr snapToGrid="0" snapToObjects="1">
      <p:cViewPr>
        <p:scale>
          <a:sx n="94" d="100"/>
          <a:sy n="94" d="100"/>
        </p:scale>
        <p:origin x="1176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95BF-8A45-FC43-AB1F-7E3F45C8D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79D71-264E-F94F-A9EC-4EDDF542A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B24AE-5DBD-C149-94FD-7A5447EF5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AE6E-C883-D24D-9171-2A9A8173883D}" type="datetimeFigureOut">
              <a:rPr lang="en-FI" smtClean="0"/>
              <a:t>8.5.2025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99075-AB2A-3C44-8C24-33E60996C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F090-FE1E-3746-AD6F-D92B1EE7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4BBA-A6B1-3940-B395-2562D1F2DE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0725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79070-8FA9-ED48-93C3-3887C2C65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93D8B-B91F-3941-8CB8-7CB7A9E01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EDB0D-AC88-7C43-8AAA-0956D2B6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AE6E-C883-D24D-9171-2A9A8173883D}" type="datetimeFigureOut">
              <a:rPr lang="en-FI" smtClean="0"/>
              <a:t>8.5.2025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D228B-C75F-9C45-ACDC-4EFFFF5BD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BEBB6-3EA9-004A-8E5D-10FBDB248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4BBA-A6B1-3940-B395-2562D1F2DE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37589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217E-0C9E-314E-8444-7179CD0AB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670CC-2FA3-F646-A655-73F837EC8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FBF46-7505-2C4D-A52F-E864145F4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AE6E-C883-D24D-9171-2A9A8173883D}" type="datetimeFigureOut">
              <a:rPr lang="en-FI" smtClean="0"/>
              <a:t>8.5.2025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8BCF4-7A7D-4F4E-9F13-DB7424B1C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2ED66-5EE0-2345-B363-5CF87687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4BBA-A6B1-3940-B395-2562D1F2DE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39488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7FB0-B857-0C4F-82C4-0867BF4A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83F03-0D0F-7E4C-ACA1-67915ADDD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3C217-7059-C442-B8F4-3A0182665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5EC2D-DD9C-664C-B20D-53F560909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AE6E-C883-D24D-9171-2A9A8173883D}" type="datetimeFigureOut">
              <a:rPr lang="en-FI" smtClean="0"/>
              <a:t>8.5.2025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E6CAE-AA6C-7E46-9318-990D5960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BAD4B-171B-1148-B2BA-B92489C6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4BBA-A6B1-3940-B395-2562D1F2DE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3351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CE3FC-CA65-D741-9BAA-40F7DFE0E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D3014-C33D-BC44-8680-7361B9119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290F1-6A39-3440-AD56-E7D3C4F35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C8112-C4B5-D944-8E15-B1069401C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069CF-4B0A-B243-82E0-CB0E7929C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69F88-843C-0141-8320-14614B42E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AE6E-C883-D24D-9171-2A9A8173883D}" type="datetimeFigureOut">
              <a:rPr lang="en-FI" smtClean="0"/>
              <a:t>8.5.2025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662119-1C3F-DA42-AE5C-8EC026E7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3A0795-6282-FE45-8688-91934396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4BBA-A6B1-3940-B395-2562D1F2DE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72589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E7FEC-19FC-8D43-BF0B-BAA566DB8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4556D-2890-2D47-B2B4-B7238865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AE6E-C883-D24D-9171-2A9A8173883D}" type="datetimeFigureOut">
              <a:rPr lang="en-FI" smtClean="0"/>
              <a:t>8.5.2025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7401B-CB51-D141-8C95-B9CCB246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EC8BB-D16E-1C43-A5BC-AE4DB08C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4BBA-A6B1-3940-B395-2562D1F2DE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9180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A1537-3D0F-D844-AA86-96995D44C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AE6E-C883-D24D-9171-2A9A8173883D}" type="datetimeFigureOut">
              <a:rPr lang="en-FI" smtClean="0"/>
              <a:t>8.5.2025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21FE05-C3D5-1341-A8B3-10448180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D5FAE-67E5-074B-A859-8A39B263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4BBA-A6B1-3940-B395-2562D1F2DE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14424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4403-88AC-CD43-8C75-272887EC6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E738A-676B-3B40-B745-5C2867DD1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16AB3-91DD-BE4D-952E-4E50455B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A0098-60EF-9344-9E83-D220F529D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AE6E-C883-D24D-9171-2A9A8173883D}" type="datetimeFigureOut">
              <a:rPr lang="en-FI" smtClean="0"/>
              <a:t>8.5.2025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26A2E-B061-FF40-AA8D-D0F65572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66F75-BFAE-994D-8244-744E2236A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4BBA-A6B1-3940-B395-2562D1F2DE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1137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4D92-76AD-1343-8FF7-93170242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5EBC67-A4FA-674F-8EF2-18B98195A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A27F1-E9BA-1347-88D8-845EFFD70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21259-5979-E845-AE08-8D3C56A50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AE6E-C883-D24D-9171-2A9A8173883D}" type="datetimeFigureOut">
              <a:rPr lang="en-FI" smtClean="0"/>
              <a:t>8.5.2025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D435F-19BB-4F44-AC45-2C8A71C09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1FF67-0D92-2247-BB9F-BD9D31A0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4BBA-A6B1-3940-B395-2562D1F2DE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12988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4CA9E-32DA-6344-9601-B8272E686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16AD1-359D-FE40-BFC3-7480A6E7B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87D9F-D1F2-F64E-A12A-C09717E95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AE6E-C883-D24D-9171-2A9A8173883D}" type="datetimeFigureOut">
              <a:rPr lang="en-FI" smtClean="0"/>
              <a:t>8.5.2025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A8990-59FC-3B41-8150-5956706E7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FC6F5-A7C6-4840-AC3D-2FFB5949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4BBA-A6B1-3940-B395-2562D1F2DE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0485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56AEC-255D-6348-9B05-4A47D3D3C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64964-5782-264B-99B1-2A435AC0A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C9C40-6E67-3643-B501-C673ED45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AE6E-C883-D24D-9171-2A9A8173883D}" type="datetimeFigureOut">
              <a:rPr lang="en-FI" smtClean="0"/>
              <a:t>8.5.2025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ECF05-AEB1-0740-A5AD-F784CA2BD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A29EA-02C9-E74D-B89B-02FF7B7D8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4BBA-A6B1-3940-B395-2562D1F2DE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4482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03D20-F0BA-684A-80FE-30814138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08D2B-3DBF-6D4E-A80F-C924C24D4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23AA4-5499-F24D-A738-0895E9641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1AE6E-C883-D24D-9171-2A9A8173883D}" type="datetimeFigureOut">
              <a:rPr lang="en-FI" smtClean="0"/>
              <a:t>8.5.2025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4764D-3B0B-7D49-98E3-3C83B2F95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BD167-3384-F641-9AFD-CCD3BF4B7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A4BBA-A6B1-3940-B395-2562D1F2DE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8139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73/pnas.1308540110" TargetMode="External"/><Relationship Id="rId2" Type="http://schemas.openxmlformats.org/officeDocument/2006/relationships/hyperlink" Target="https://doi.org/10.1098/rsos.17014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7D661-90C9-D04C-8B04-DF0AC61C0E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</a:rPr>
              <a:t>Understanding Social Structure in Baboon Proximity Networks</a:t>
            </a:r>
            <a:endParaRPr lang="en-FI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152A8-0B42-EA4B-B6E2-7C6E32CBA3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09/05/2025</a:t>
            </a:r>
          </a:p>
          <a:p>
            <a:r>
              <a:rPr lang="en-GB" dirty="0"/>
              <a:t>Chau Do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14621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8C69-4626-F54B-B513-2AB623496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0F311-4FCF-0E45-B58B-1C817BA6E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Data by </a:t>
            </a:r>
            <a:r>
              <a:rPr lang="en-GB" dirty="0" err="1"/>
              <a:t>Bonnell</a:t>
            </a:r>
            <a:r>
              <a:rPr lang="en-GB" dirty="0"/>
              <a:t> et al.</a:t>
            </a:r>
            <a:endParaRPr lang="en-FI" dirty="0"/>
          </a:p>
          <a:p>
            <a:r>
              <a:rPr lang="en-FI" dirty="0"/>
              <a:t>13 baboons, 61841 observations</a:t>
            </a:r>
          </a:p>
          <a:p>
            <a:r>
              <a:rPr lang="en-FI" dirty="0"/>
              <a:t>Mar. 2007 – Apr. 2008 </a:t>
            </a:r>
          </a:p>
          <a:p>
            <a:r>
              <a:rPr lang="en-FI" dirty="0"/>
              <a:t>Attributes: date, time, coordinates, animal ID </a:t>
            </a:r>
          </a:p>
          <a:p>
            <a:r>
              <a:rPr lang="en-FI" dirty="0"/>
              <a:t>Animal ID: sex + dominance rank (e.g., M1 is the most dominant male)</a:t>
            </a:r>
          </a:p>
          <a:p>
            <a:r>
              <a:rPr lang="en-FI" dirty="0"/>
              <a:t>Dominance ranks are assigned based on the outcomes of agonistic contests among individuals</a:t>
            </a:r>
          </a:p>
        </p:txBody>
      </p:sp>
    </p:spTree>
    <p:extLst>
      <p:ext uri="{BB962C8B-B14F-4D97-AF65-F5344CB8AC3E}">
        <p14:creationId xmlns:p14="http://schemas.microsoft.com/office/powerpoint/2010/main" val="290686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1EA9C-2C23-624D-B50A-1DFBCAD4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Research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4AE58-FCD4-8E48-9F38-DDB82C22A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Correlation between metrics in proximity network and dominance hierarchy of baboons</a:t>
            </a:r>
          </a:p>
          <a:p>
            <a:r>
              <a:rPr lang="en-FI" dirty="0"/>
              <a:t>Persistance of social signatures (distribution of time spent with connections and identity of connections) over time (</a:t>
            </a:r>
            <a:r>
              <a:rPr lang="en-GB" dirty="0" err="1"/>
              <a:t>Saramäki</a:t>
            </a:r>
            <a:r>
              <a:rPr lang="en-GB" dirty="0"/>
              <a:t> et al.</a:t>
            </a:r>
            <a:r>
              <a:rPr lang="en-FI" dirty="0"/>
              <a:t>) and its relationship with dominance hierarchy in baboons</a:t>
            </a:r>
          </a:p>
          <a:p>
            <a:endParaRPr lang="en-FI" dirty="0"/>
          </a:p>
          <a:p>
            <a:endParaRPr lang="en-FI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930050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BC52F-2DD7-B14A-BA88-75885A91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Data </a:t>
            </a:r>
          </a:p>
        </p:txBody>
      </p:sp>
      <p:pic>
        <p:nvPicPr>
          <p:cNvPr id="9" name="Content Placeholder 8" descr="A graph with colorful lines&#10;&#10;Description automatically generated">
            <a:extLst>
              <a:ext uri="{FF2B5EF4-FFF2-40B4-BE49-F238E27FC236}">
                <a16:creationId xmlns:a16="http://schemas.microsoft.com/office/drawing/2014/main" id="{A292CD92-CB52-D34B-B66A-1CDCBEDF3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4866" y="1402138"/>
            <a:ext cx="9658933" cy="4774825"/>
          </a:xfrm>
        </p:spPr>
      </p:pic>
    </p:spTree>
    <p:extLst>
      <p:ext uri="{BB962C8B-B14F-4D97-AF65-F5344CB8AC3E}">
        <p14:creationId xmlns:p14="http://schemas.microsoft.com/office/powerpoint/2010/main" val="347184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B03C9-6A6B-3749-9ED5-A440D78F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Data interpolation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20CB-573B-8747-A486-02D1E865E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For each available time point in the dataset:</a:t>
            </a:r>
          </a:p>
          <a:p>
            <a:pPr lvl="1"/>
            <a:r>
              <a:rPr lang="en-FI" dirty="0"/>
              <a:t>If the time interval between the two closest observations is at most 10 mins </a:t>
            </a:r>
            <a:br>
              <a:rPr lang="en-FI" dirty="0"/>
            </a:br>
            <a:r>
              <a:rPr lang="en-FI" dirty="0"/>
              <a:t>-&gt; linear interpolation </a:t>
            </a:r>
          </a:p>
          <a:p>
            <a:pPr lvl="1"/>
            <a:r>
              <a:rPr lang="en-FI" dirty="0"/>
              <a:t> </a:t>
            </a:r>
          </a:p>
          <a:p>
            <a:pPr lvl="1"/>
            <a:endParaRPr lang="en-FI" dirty="0"/>
          </a:p>
          <a:p>
            <a:pPr marL="457200" lvl="1" indent="0">
              <a:buNone/>
            </a:pPr>
            <a:endParaRPr lang="en-FI" dirty="0"/>
          </a:p>
          <a:p>
            <a:endParaRPr lang="en-FI" dirty="0"/>
          </a:p>
          <a:p>
            <a:pPr lvl="1"/>
            <a:endParaRPr lang="en-FI" dirty="0"/>
          </a:p>
        </p:txBody>
      </p:sp>
      <p:pic>
        <p:nvPicPr>
          <p:cNvPr id="7" name="Picture 6" descr="A math equation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9EF84004-64CB-8A4D-95D9-8FA7F446F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78" y="2952454"/>
            <a:ext cx="6201292" cy="128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37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0FF0-1D95-5E4E-98A8-EAE03277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Proximity network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8900F-C413-3A46-8811-8BD2A1E8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704"/>
            <a:ext cx="10515600" cy="4351338"/>
          </a:xfrm>
        </p:spPr>
        <p:txBody>
          <a:bodyPr/>
          <a:lstStyle/>
          <a:p>
            <a:r>
              <a:rPr lang="en-FI" dirty="0"/>
              <a:t>For each time point in the dataset, if the distance between 2 baboons are at most 5m, add an edge between the 2 corresponding nodes </a:t>
            </a:r>
            <a:br>
              <a:rPr lang="en-FI" dirty="0"/>
            </a:br>
            <a:r>
              <a:rPr lang="en-FI" dirty="0"/>
              <a:t>-&gt; 40539 graphs </a:t>
            </a:r>
          </a:p>
          <a:p>
            <a:pPr marL="0" indent="0">
              <a:buNone/>
            </a:pPr>
            <a:endParaRPr lang="en-FI" dirty="0"/>
          </a:p>
          <a:p>
            <a:pPr marL="0" indent="0">
              <a:buNone/>
            </a:pPr>
            <a:endParaRPr lang="en-FI" dirty="0"/>
          </a:p>
        </p:txBody>
      </p:sp>
      <p:pic>
        <p:nvPicPr>
          <p:cNvPr id="7" name="Picture 6" descr="A graph with blue bars&#10;&#10;Description automatically generated">
            <a:extLst>
              <a:ext uri="{FF2B5EF4-FFF2-40B4-BE49-F238E27FC236}">
                <a16:creationId xmlns:a16="http://schemas.microsoft.com/office/drawing/2014/main" id="{4373BDD1-B1BC-8A41-A869-3574005A3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377" y="3125913"/>
            <a:ext cx="4520609" cy="3372993"/>
          </a:xfrm>
          <a:prstGeom prst="rect">
            <a:avLst/>
          </a:prstGeom>
        </p:spPr>
      </p:pic>
      <p:pic>
        <p:nvPicPr>
          <p:cNvPr id="9" name="Picture 8" descr="A graph of a number of edges&#10;&#10;Description automatically generated">
            <a:extLst>
              <a:ext uri="{FF2B5EF4-FFF2-40B4-BE49-F238E27FC236}">
                <a16:creationId xmlns:a16="http://schemas.microsoft.com/office/drawing/2014/main" id="{26D95D74-9CB4-0D45-902C-7090A45E0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652" y="3125913"/>
            <a:ext cx="4681870" cy="336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030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29E1-D68D-D24D-B56D-F9728569D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Average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E5E28-3921-0C46-BFFA-FD1167E89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Edge weight:</a:t>
            </a:r>
          </a:p>
          <a:p>
            <a:endParaRPr lang="en-FI" dirty="0"/>
          </a:p>
          <a:p>
            <a:endParaRPr lang="en-FI" dirty="0"/>
          </a:p>
          <a:p>
            <a:endParaRPr lang="en-FI" dirty="0"/>
          </a:p>
          <a:p>
            <a:endParaRPr lang="en-FI" dirty="0"/>
          </a:p>
        </p:txBody>
      </p:sp>
      <p:pic>
        <p:nvPicPr>
          <p:cNvPr id="7" name="Picture 6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04E23EE6-0F04-4F41-8FE3-99FB93E67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849" y="2032829"/>
            <a:ext cx="3516302" cy="858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C7FED9-2C85-2E47-A730-5987B1904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86" y="2891045"/>
            <a:ext cx="9513095" cy="85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10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29E1-D68D-D24D-B56D-F9728569D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Average network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63AA63-190A-EA46-8F68-17F0FBB1B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476" y="1395413"/>
            <a:ext cx="6591047" cy="509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8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1504-AE8C-F848-BBDC-B745C2DBF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Correlation of node metrics with rank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356B02-6C00-3D49-B273-E1734211A65A}"/>
              </a:ext>
            </a:extLst>
          </p:cNvPr>
          <p:cNvSpPr txBox="1">
            <a:spLocks/>
          </p:cNvSpPr>
          <p:nvPr/>
        </p:nvSpPr>
        <p:spPr>
          <a:xfrm>
            <a:off x="838197" y="162378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FI" dirty="0"/>
              <a:t>Spearman’s rho, P-values from permutation tests (1000 permutations)</a:t>
            </a:r>
          </a:p>
          <a:p>
            <a:r>
              <a:rPr lang="en-FI" dirty="0"/>
              <a:t>Female nodes only (since there are only 2 male nodes, and male and female rankings are not comparable)</a:t>
            </a:r>
          </a:p>
          <a:p>
            <a:r>
              <a:rPr lang="en-FI" dirty="0"/>
              <a:t>Higher-ranked female nodes have higher strength, clustering, closeness, and eigenvector central</a:t>
            </a:r>
          </a:p>
          <a:p>
            <a:endParaRPr lang="en-FI" dirty="0"/>
          </a:p>
          <a:p>
            <a:endParaRPr lang="en-FI" dirty="0"/>
          </a:p>
          <a:p>
            <a:endParaRPr lang="en-FI" dirty="0"/>
          </a:p>
          <a:p>
            <a:endParaRPr lang="en-FI" dirty="0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924AC315-66AB-644C-B8C9-49FFE9290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008544"/>
              </p:ext>
            </p:extLst>
          </p:nvPr>
        </p:nvGraphicFramePr>
        <p:xfrm>
          <a:off x="2152647" y="4165540"/>
          <a:ext cx="78867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529593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106138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5919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/>
                        </a:rPr>
                        <a:t>Spearman’s rho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b="1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555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dirty="0">
                          <a:effectLst/>
                        </a:rPr>
                        <a:t>-0.763636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b="1" dirty="0">
                          <a:effectLst/>
                        </a:rPr>
                        <a:t>0.003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212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Clustering coefficient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dirty="0">
                          <a:effectLst/>
                        </a:rPr>
                        <a:t>-0.763636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b="1" dirty="0">
                          <a:effectLst/>
                        </a:rPr>
                        <a:t>0.003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899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Betweenness centrality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dirty="0">
                          <a:effectLst/>
                        </a:rPr>
                        <a:t>-0.074536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dirty="0">
                          <a:effectLst/>
                        </a:rPr>
                        <a:t>0.466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6595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Closeness centrality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>
                          <a:effectLst/>
                        </a:rPr>
                        <a:t>-0.727273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b="1" dirty="0">
                          <a:effectLst/>
                        </a:rPr>
                        <a:t>0.002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5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Eigenvector centrality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dirty="0">
                          <a:effectLst/>
                        </a:rPr>
                        <a:t>-0.818182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b="1" dirty="0">
                          <a:effectLst/>
                        </a:rPr>
                        <a:t>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240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112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93029-D4E2-A040-AFB3-6A7DE7D6F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Correlation of edge weight with rank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FBD97-3DCD-DF48-BB06-FA479E7ED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Spearman’s rho between edge weights and the absolute differences between the ranks of endpoint nodes = -0.559, P = 0.000 </a:t>
            </a:r>
            <a:br>
              <a:rPr lang="en-FI" dirty="0"/>
            </a:br>
            <a:r>
              <a:rPr lang="en-FI" dirty="0"/>
              <a:t>-&gt; Baboons with larger differences in social ranks tend to spend less time together</a:t>
            </a:r>
          </a:p>
        </p:txBody>
      </p:sp>
    </p:spTree>
    <p:extLst>
      <p:ext uri="{BB962C8B-B14F-4D97-AF65-F5344CB8AC3E}">
        <p14:creationId xmlns:p14="http://schemas.microsoft.com/office/powerpoint/2010/main" val="1715395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FFE2-A74F-9B4F-A545-4DF4B9CB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Average network by month</a:t>
            </a:r>
            <a:endParaRPr lang="en-FI" dirty="0"/>
          </a:p>
        </p:txBody>
      </p:sp>
      <p:pic>
        <p:nvPicPr>
          <p:cNvPr id="4" name="monthly_networks (1)" descr="monthly_networks (1)">
            <a:hlinkClick r:id="" action="ppaction://media"/>
            <a:extLst>
              <a:ext uri="{FF2B5EF4-FFF2-40B4-BE49-F238E27FC236}">
                <a16:creationId xmlns:a16="http://schemas.microsoft.com/office/drawing/2014/main" id="{AF4517E7-B788-534F-9998-4102FF1B416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50219" y="1606902"/>
            <a:ext cx="6691561" cy="4698148"/>
          </a:xfrm>
        </p:spPr>
      </p:pic>
    </p:spTree>
    <p:extLst>
      <p:ext uri="{BB962C8B-B14F-4D97-AF65-F5344CB8AC3E}">
        <p14:creationId xmlns:p14="http://schemas.microsoft.com/office/powerpoint/2010/main" val="415045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7C6AC-400E-D741-BDBE-A1E3F29A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Average network by temporal block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4BC71-1356-3D40-A448-5E2C9F12E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3 blocks: </a:t>
            </a:r>
          </a:p>
          <a:p>
            <a:pPr lvl="1"/>
            <a:r>
              <a:rPr lang="en-FI" dirty="0"/>
              <a:t>Block 1: Mar 2007 – Jun 2007</a:t>
            </a:r>
          </a:p>
          <a:p>
            <a:pPr lvl="1"/>
            <a:r>
              <a:rPr lang="en-FI" dirty="0"/>
              <a:t>Block 2: Jul 2007 – Sep 2007 </a:t>
            </a:r>
          </a:p>
          <a:p>
            <a:pPr lvl="1"/>
            <a:r>
              <a:rPr lang="en-FI" dirty="0"/>
              <a:t>Block 3: Jan 2008 – Apr 2008 </a:t>
            </a:r>
          </a:p>
        </p:txBody>
      </p:sp>
    </p:spTree>
    <p:extLst>
      <p:ext uri="{BB962C8B-B14F-4D97-AF65-F5344CB8AC3E}">
        <p14:creationId xmlns:p14="http://schemas.microsoft.com/office/powerpoint/2010/main" val="3848642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0D6D-890E-1A4E-A758-9E608298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Ego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43E65-9180-F144-A119-4ED9E35BD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FI" dirty="0"/>
              <a:t>Ego network of node </a:t>
            </a:r>
            <a:r>
              <a:rPr lang="en-FI" i="1" dirty="0"/>
              <a:t>i</a:t>
            </a:r>
            <a:r>
              <a:rPr lang="en-FI" dirty="0"/>
              <a:t>: subgraph with only edges adjacent to</a:t>
            </a:r>
            <a:r>
              <a:rPr lang="en-FI" i="1" dirty="0"/>
              <a:t> i</a:t>
            </a:r>
          </a:p>
          <a:p>
            <a:r>
              <a:rPr lang="en-FI" dirty="0"/>
              <a:t>Fraction of strength of node </a:t>
            </a:r>
            <a:r>
              <a:rPr lang="en-FI" i="1" dirty="0"/>
              <a:t>j</a:t>
            </a:r>
            <a:r>
              <a:rPr lang="en-FI" dirty="0"/>
              <a:t> in the ego network of node </a:t>
            </a:r>
            <a:r>
              <a:rPr lang="en-FI" i="1" dirty="0"/>
              <a:t>i</a:t>
            </a:r>
            <a:r>
              <a:rPr lang="en-FI" dirty="0"/>
              <a:t>:</a:t>
            </a:r>
          </a:p>
          <a:p>
            <a:pPr marL="0" indent="0">
              <a:buNone/>
            </a:pPr>
            <a:endParaRPr lang="en-FI" dirty="0"/>
          </a:p>
          <a:p>
            <a:pPr marL="0" indent="0">
              <a:buNone/>
            </a:pPr>
            <a:endParaRPr lang="en-FI" dirty="0"/>
          </a:p>
          <a:p>
            <a:pPr marL="0" indent="0">
              <a:buNone/>
            </a:pPr>
            <a:endParaRPr lang="en-FI" dirty="0"/>
          </a:p>
          <a:p>
            <a:r>
              <a:rPr lang="en-FI" dirty="0"/>
              <a:t>Represents the proportion of time node </a:t>
            </a:r>
            <a:r>
              <a:rPr lang="en-FI" i="1" dirty="0"/>
              <a:t>i </a:t>
            </a:r>
            <a:r>
              <a:rPr lang="en-FI" dirty="0"/>
              <a:t>spends with node </a:t>
            </a:r>
            <a:r>
              <a:rPr lang="en-FI" i="1" dirty="0"/>
              <a:t>j</a:t>
            </a:r>
            <a:r>
              <a:rPr lang="en-FI" dirty="0"/>
              <a:t> relative to the time </a:t>
            </a:r>
            <a:r>
              <a:rPr lang="en-FI" i="1" dirty="0"/>
              <a:t>i</a:t>
            </a:r>
            <a:r>
              <a:rPr lang="en-FI" dirty="0"/>
              <a:t> spends with all other nodes</a:t>
            </a:r>
          </a:p>
          <a:p>
            <a:pPr marL="0" indent="0">
              <a:buNone/>
            </a:pPr>
            <a:endParaRPr lang="en-FI"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D1AB0AC-1A4F-3643-B028-E32F9C4C9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155" y="2816797"/>
            <a:ext cx="2135690" cy="1039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85A90E-CCE0-3340-A76D-A48A2CA2B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80" y="3827098"/>
            <a:ext cx="6443082" cy="49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684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B8CA-A3DA-0B42-AD52-006202C7E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Ego plots: M1</a:t>
            </a:r>
          </a:p>
        </p:txBody>
      </p:sp>
      <p:pic>
        <p:nvPicPr>
          <p:cNvPr id="5" name="Content Placeholder 4" descr="A graph with circles and numbers&#10;&#10;Description automatically generated">
            <a:extLst>
              <a:ext uri="{FF2B5EF4-FFF2-40B4-BE49-F238E27FC236}">
                <a16:creationId xmlns:a16="http://schemas.microsoft.com/office/drawing/2014/main" id="{381B6DAD-A91F-B94E-9404-116BFFD4B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312" y="2645037"/>
            <a:ext cx="4378878" cy="3635295"/>
          </a:xfrm>
        </p:spPr>
      </p:pic>
      <p:pic>
        <p:nvPicPr>
          <p:cNvPr id="9" name="Picture 8" descr="A graph with circles and numbers&#10;&#10;Description automatically generated">
            <a:extLst>
              <a:ext uri="{FF2B5EF4-FFF2-40B4-BE49-F238E27FC236}">
                <a16:creationId xmlns:a16="http://schemas.microsoft.com/office/drawing/2014/main" id="{82524DD4-DCE0-9248-90FF-5328466AF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45037"/>
            <a:ext cx="4378879" cy="363529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AF912BB-39C1-8A4F-ABBA-802D5DE9DE0D}"/>
              </a:ext>
            </a:extLst>
          </p:cNvPr>
          <p:cNvSpPr txBox="1">
            <a:spLocks/>
          </p:cNvSpPr>
          <p:nvPr/>
        </p:nvSpPr>
        <p:spPr>
          <a:xfrm>
            <a:off x="838200" y="18127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FI" dirty="0"/>
              <a:t>No observation of M1 in block 3</a:t>
            </a:r>
          </a:p>
        </p:txBody>
      </p:sp>
    </p:spTree>
    <p:extLst>
      <p:ext uri="{BB962C8B-B14F-4D97-AF65-F5344CB8AC3E}">
        <p14:creationId xmlns:p14="http://schemas.microsoft.com/office/powerpoint/2010/main" val="293375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E220C-AEC0-9D4A-A4B2-46A37F0B5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0202" y="380512"/>
            <a:ext cx="10515600" cy="1325563"/>
          </a:xfrm>
        </p:spPr>
        <p:txBody>
          <a:bodyPr/>
          <a:lstStyle/>
          <a:p>
            <a:pPr algn="r"/>
            <a:r>
              <a:rPr lang="en-FI" dirty="0">
                <a:solidFill>
                  <a:srgbClr val="C00000"/>
                </a:solidFill>
              </a:rPr>
              <a:t>Ego plots: F1</a:t>
            </a:r>
          </a:p>
        </p:txBody>
      </p:sp>
      <p:pic>
        <p:nvPicPr>
          <p:cNvPr id="7" name="Picture 6" descr="A graph with circles and numbers&#10;&#10;Description automatically generated">
            <a:extLst>
              <a:ext uri="{FF2B5EF4-FFF2-40B4-BE49-F238E27FC236}">
                <a16:creationId xmlns:a16="http://schemas.microsoft.com/office/drawing/2014/main" id="{D1E15FFB-F3FC-E54E-B286-EF28CE404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70" y="3519360"/>
            <a:ext cx="3867292" cy="3210581"/>
          </a:xfrm>
          <a:prstGeom prst="rect">
            <a:avLst/>
          </a:prstGeom>
        </p:spPr>
      </p:pic>
      <p:pic>
        <p:nvPicPr>
          <p:cNvPr id="9" name="Picture 8" descr="A graph with circles and numbers&#10;&#10;Description automatically generated">
            <a:extLst>
              <a:ext uri="{FF2B5EF4-FFF2-40B4-BE49-F238E27FC236}">
                <a16:creationId xmlns:a16="http://schemas.microsoft.com/office/drawing/2014/main" id="{6BA3592A-A123-2D4C-BF9F-602ED4980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095" y="3519360"/>
            <a:ext cx="3867292" cy="3210581"/>
          </a:xfrm>
          <a:prstGeom prst="rect">
            <a:avLst/>
          </a:prstGeom>
        </p:spPr>
      </p:pic>
      <p:pic>
        <p:nvPicPr>
          <p:cNvPr id="5" name="Content Placeholder 4" descr="A graph with circles and numbers&#10;&#10;Description automatically generated">
            <a:extLst>
              <a:ext uri="{FF2B5EF4-FFF2-40B4-BE49-F238E27FC236}">
                <a16:creationId xmlns:a16="http://schemas.microsoft.com/office/drawing/2014/main" id="{ADD0BE01-05D8-DF49-888F-352EDEBF4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42956" y="128059"/>
            <a:ext cx="4003206" cy="3323415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A22826-101C-EC4D-B651-E2ABA6B7BBA2}"/>
              </a:ext>
            </a:extLst>
          </p:cNvPr>
          <p:cNvSpPr txBox="1"/>
          <p:nvPr/>
        </p:nvSpPr>
        <p:spPr>
          <a:xfrm>
            <a:off x="6478292" y="22162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I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4083A90-6364-2845-8D92-A7E4C90428FF}"/>
              </a:ext>
            </a:extLst>
          </p:cNvPr>
          <p:cNvSpPr txBox="1">
            <a:spLocks/>
          </p:cNvSpPr>
          <p:nvPr/>
        </p:nvSpPr>
        <p:spPr>
          <a:xfrm>
            <a:off x="6332692" y="1706075"/>
            <a:ext cx="51258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FI" dirty="0"/>
              <a:t>F1 spends the most time with M1 in block 1 and 2 and with M2 in block 3</a:t>
            </a:r>
          </a:p>
        </p:txBody>
      </p:sp>
    </p:spTree>
    <p:extLst>
      <p:ext uri="{BB962C8B-B14F-4D97-AF65-F5344CB8AC3E}">
        <p14:creationId xmlns:p14="http://schemas.microsoft.com/office/powerpoint/2010/main" val="1651061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E220C-AEC0-9D4A-A4B2-46A37F0B5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0202" y="380512"/>
            <a:ext cx="10515600" cy="1325563"/>
          </a:xfrm>
        </p:spPr>
        <p:txBody>
          <a:bodyPr/>
          <a:lstStyle/>
          <a:p>
            <a:pPr algn="r"/>
            <a:r>
              <a:rPr lang="en-FI" dirty="0">
                <a:solidFill>
                  <a:srgbClr val="C00000"/>
                </a:solidFill>
              </a:rPr>
              <a:t>Ego plots: M2</a:t>
            </a:r>
          </a:p>
        </p:txBody>
      </p:sp>
      <p:pic>
        <p:nvPicPr>
          <p:cNvPr id="4" name="Picture 3" descr="A graph with circles in the center&#10;&#10;Description automatically generated">
            <a:extLst>
              <a:ext uri="{FF2B5EF4-FFF2-40B4-BE49-F238E27FC236}">
                <a16:creationId xmlns:a16="http://schemas.microsoft.com/office/drawing/2014/main" id="{10AE13B3-2180-CD42-96F6-2E54ABEBA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12" y="395899"/>
            <a:ext cx="3920248" cy="3254546"/>
          </a:xfrm>
          <a:prstGeom prst="rect">
            <a:avLst/>
          </a:prstGeom>
        </p:spPr>
      </p:pic>
      <p:pic>
        <p:nvPicPr>
          <p:cNvPr id="11" name="Picture 10" descr="A graph with circles and numbers&#10;&#10;Description automatically generated">
            <a:extLst>
              <a:ext uri="{FF2B5EF4-FFF2-40B4-BE49-F238E27FC236}">
                <a16:creationId xmlns:a16="http://schemas.microsoft.com/office/drawing/2014/main" id="{D2B39814-BE45-AB43-A772-A32157C03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12" y="3600536"/>
            <a:ext cx="3920248" cy="3254545"/>
          </a:xfrm>
          <a:prstGeom prst="rect">
            <a:avLst/>
          </a:prstGeom>
        </p:spPr>
      </p:pic>
      <p:pic>
        <p:nvPicPr>
          <p:cNvPr id="13" name="Picture 12" descr="A graph with circles and numbers&#10;&#10;Description automatically generated">
            <a:extLst>
              <a:ext uri="{FF2B5EF4-FFF2-40B4-BE49-F238E27FC236}">
                <a16:creationId xmlns:a16="http://schemas.microsoft.com/office/drawing/2014/main" id="{BE704790-365D-B942-93B9-2E2E3788B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710" y="3600536"/>
            <a:ext cx="3923763" cy="3257464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48F0FA6-041C-3D48-80E1-776A79E51D95}"/>
              </a:ext>
            </a:extLst>
          </p:cNvPr>
          <p:cNvSpPr txBox="1">
            <a:spLocks/>
          </p:cNvSpPr>
          <p:nvPr/>
        </p:nvSpPr>
        <p:spPr>
          <a:xfrm>
            <a:off x="6096000" y="1706075"/>
            <a:ext cx="51258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FI" dirty="0"/>
              <a:t>M2 spends the most time with lower-ranking females (F6, F10, etc.) in block 1 and 2 and with F1 in block 3</a:t>
            </a:r>
          </a:p>
        </p:txBody>
      </p:sp>
    </p:spTree>
    <p:extLst>
      <p:ext uri="{BB962C8B-B14F-4D97-AF65-F5344CB8AC3E}">
        <p14:creationId xmlns:p14="http://schemas.microsoft.com/office/powerpoint/2010/main" val="3257940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DAC51-9361-BB41-A924-D7302669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Persistance of top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358D1-8354-7F4D-BAE8-3D6752952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FI" dirty="0"/>
              <a:t>Identify top 5 neighbors of each node in each block</a:t>
            </a:r>
          </a:p>
          <a:p>
            <a:r>
              <a:rPr lang="en-FI" dirty="0"/>
              <a:t>Notation: </a:t>
            </a:r>
          </a:p>
          <a:p>
            <a:pPr marL="0" indent="0">
              <a:buNone/>
            </a:pPr>
            <a:endParaRPr lang="en-FI" dirty="0"/>
          </a:p>
          <a:p>
            <a:pPr marL="0" indent="0">
              <a:buNone/>
            </a:pPr>
            <a:endParaRPr lang="en-FI" dirty="0"/>
          </a:p>
          <a:p>
            <a:r>
              <a:rPr lang="en-FI" dirty="0"/>
              <a:t>Calculate Jaccard index of top neighbors of each node in consecutive blocks (block 1 – block 2 and block 2 – block 3)</a:t>
            </a:r>
          </a:p>
          <a:p>
            <a:r>
              <a:rPr lang="en-FI" dirty="0"/>
              <a:t>Average over nodes: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8C835-282A-134D-BC86-B5089F21B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75" y="2743145"/>
            <a:ext cx="10327128" cy="878400"/>
          </a:xfrm>
          <a:prstGeom prst="rect">
            <a:avLst/>
          </a:prstGeom>
        </p:spPr>
      </p:pic>
      <p:pic>
        <p:nvPicPr>
          <p:cNvPr id="11" name="Picture 10" descr="A math equations with numbers&#10;&#10;Description automatically generated">
            <a:extLst>
              <a:ext uri="{FF2B5EF4-FFF2-40B4-BE49-F238E27FC236}">
                <a16:creationId xmlns:a16="http://schemas.microsoft.com/office/drawing/2014/main" id="{B0F1EFC4-E9F0-8143-9B83-13F630494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735" y="4724642"/>
            <a:ext cx="4177350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162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7BD3D-19D6-FA44-AAB8-4D221011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Correlation of top neighbors retention with rank 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DD69A-A256-2445-9A0D-4A4908941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For each node, calculate the top neighbor retention</a:t>
            </a:r>
          </a:p>
          <a:p>
            <a:endParaRPr lang="en-FI" dirty="0"/>
          </a:p>
          <a:p>
            <a:endParaRPr lang="en-FI" dirty="0"/>
          </a:p>
          <a:p>
            <a:r>
              <a:rPr lang="en-FI" dirty="0"/>
              <a:t>Correlation with rank (females only): Pearson’s rho -0.844, P = 0.001</a:t>
            </a:r>
            <a:br>
              <a:rPr lang="en-FI" dirty="0"/>
            </a:br>
            <a:r>
              <a:rPr lang="en-FI" dirty="0"/>
              <a:t>-&gt; higher-ranked female baboons tend to retain social connections better</a:t>
            </a:r>
          </a:p>
        </p:txBody>
      </p:sp>
      <p:pic>
        <p:nvPicPr>
          <p:cNvPr id="5" name="Picture 4" descr="A math equations with numbers&#10;&#10;Description automatically generated with medium confidence">
            <a:extLst>
              <a:ext uri="{FF2B5EF4-FFF2-40B4-BE49-F238E27FC236}">
                <a16:creationId xmlns:a16="http://schemas.microsoft.com/office/drawing/2014/main" id="{1D714FB7-4491-894A-AB86-5E822FCCC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069" y="2316162"/>
            <a:ext cx="3725861" cy="92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80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09174-D0C9-2F4E-B65B-0D070A5F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Persistance of top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118E-DB59-A545-953F-7B990F636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Compare the average self-distance and baseline (non-self):</a:t>
            </a:r>
          </a:p>
          <a:p>
            <a:endParaRPr lang="en-FI" dirty="0"/>
          </a:p>
          <a:p>
            <a:endParaRPr lang="en-FI" dirty="0"/>
          </a:p>
          <a:p>
            <a:endParaRPr lang="en-FI" dirty="0"/>
          </a:p>
          <a:p>
            <a:endParaRPr lang="en-FI" dirty="0"/>
          </a:p>
          <a:p>
            <a:r>
              <a:rPr lang="en-FI" dirty="0"/>
              <a:t>P-value of difference: 0.000 </a:t>
            </a:r>
            <a:br>
              <a:rPr lang="en-FI" dirty="0"/>
            </a:br>
            <a:r>
              <a:rPr lang="en-FI" dirty="0"/>
              <a:t>-&gt; self-distance tend to be smaller, baboons tend to retain their top connections compared to baseline</a:t>
            </a:r>
          </a:p>
        </p:txBody>
      </p:sp>
      <p:pic>
        <p:nvPicPr>
          <p:cNvPr id="7" name="Picture 6" descr="A math equations with numbers and symbols&#10;&#10;Description automatically generated">
            <a:extLst>
              <a:ext uri="{FF2B5EF4-FFF2-40B4-BE49-F238E27FC236}">
                <a16:creationId xmlns:a16="http://schemas.microsoft.com/office/drawing/2014/main" id="{35238E78-37E9-754A-BAE1-EEC43B4DD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0" y="2589211"/>
            <a:ext cx="7509857" cy="14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36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B46A0-1252-F14C-96C5-D6E9533B0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Persistance of ego plot shape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31FAA-D28F-1C4B-B1E3-702833C28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40793" cy="4351338"/>
          </a:xfrm>
        </p:spPr>
        <p:txBody>
          <a:bodyPr/>
          <a:lstStyle/>
          <a:p>
            <a:r>
              <a:rPr lang="en-FI" dirty="0"/>
              <a:t>Shape of the ego plot: distribution of time spent with neighbors (ego distribution)</a:t>
            </a:r>
          </a:p>
          <a:p>
            <a:r>
              <a:rPr lang="en-FI" dirty="0"/>
              <a:t>Jensen-Shannon divergence (JSD) to measure the shape difference between 2 ego plots</a:t>
            </a:r>
          </a:p>
          <a:p>
            <a:r>
              <a:rPr lang="en-FI" dirty="0"/>
              <a:t>Notation: </a:t>
            </a:r>
          </a:p>
          <a:p>
            <a:endParaRPr lang="en-FI" dirty="0"/>
          </a:p>
          <a:p>
            <a:endParaRPr lang="en-FI" dirty="0"/>
          </a:p>
          <a:p>
            <a:pPr marL="0" indent="0">
              <a:buNone/>
            </a:pPr>
            <a:endParaRPr lang="en-FI" dirty="0"/>
          </a:p>
          <a:p>
            <a:endParaRPr lang="en-FI" dirty="0"/>
          </a:p>
        </p:txBody>
      </p:sp>
      <p:pic>
        <p:nvPicPr>
          <p:cNvPr id="4" name="Content Placeholder 4" descr="A graph with circles and numbers&#10;&#10;Description automatically generated">
            <a:extLst>
              <a:ext uri="{FF2B5EF4-FFF2-40B4-BE49-F238E27FC236}">
                <a16:creationId xmlns:a16="http://schemas.microsoft.com/office/drawing/2014/main" id="{1D297262-C3B6-BB42-899F-B39D4BCC7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152" y="1690688"/>
            <a:ext cx="3618333" cy="3003899"/>
          </a:xfrm>
          <a:prstGeom prst="rect">
            <a:avLst/>
          </a:prstGeom>
        </p:spPr>
      </p:pic>
      <p:pic>
        <p:nvPicPr>
          <p:cNvPr id="8" name="Picture 7" descr="A close up of a text&#10;&#10;Description automatically generated">
            <a:extLst>
              <a:ext uri="{FF2B5EF4-FFF2-40B4-BE49-F238E27FC236}">
                <a16:creationId xmlns:a16="http://schemas.microsoft.com/office/drawing/2014/main" id="{FD51DF9B-BABD-E44A-83D9-9BC8A0078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49" y="4086632"/>
            <a:ext cx="6661796" cy="85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81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3729-13F7-A444-9E3B-F09CB85E2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Correlation of ego plot shape retention with rank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7E238-D9C5-C249-84B5-BBAAA274C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For each node, calculate the ego plot shape retention</a:t>
            </a:r>
          </a:p>
          <a:p>
            <a:endParaRPr lang="en-FI" dirty="0"/>
          </a:p>
          <a:p>
            <a:endParaRPr lang="en-FI" dirty="0"/>
          </a:p>
          <a:p>
            <a:r>
              <a:rPr lang="en-FI" dirty="0"/>
              <a:t>Correlation with rank (females only): Spearman’s rho 0.200, P = 0.567</a:t>
            </a:r>
            <a:br>
              <a:rPr lang="en-FI" dirty="0"/>
            </a:br>
            <a:r>
              <a:rPr lang="en-FI" dirty="0"/>
              <a:t>-&gt; not significant</a:t>
            </a:r>
          </a:p>
        </p:txBody>
      </p:sp>
      <p:pic>
        <p:nvPicPr>
          <p:cNvPr id="5" name="Picture 4" descr="A math equation with numbers and a plus&#10;&#10;Description automatically generated">
            <a:extLst>
              <a:ext uri="{FF2B5EF4-FFF2-40B4-BE49-F238E27FC236}">
                <a16:creationId xmlns:a16="http://schemas.microsoft.com/office/drawing/2014/main" id="{F25A10FF-9D60-D74B-A202-138ED7468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458" y="2472017"/>
            <a:ext cx="4087084" cy="70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84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F70C-C240-B94D-B09E-1BA53E84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Persistance of ego plot shape</a:t>
            </a:r>
            <a:endParaRPr lang="en-FI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524608-7F0D-C748-80DF-DFBEC3D38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Compare the average self-distance and baseline (non-self):</a:t>
            </a:r>
          </a:p>
          <a:p>
            <a:endParaRPr lang="en-FI" dirty="0"/>
          </a:p>
          <a:p>
            <a:endParaRPr lang="en-FI" dirty="0"/>
          </a:p>
          <a:p>
            <a:pPr marL="0" indent="0">
              <a:buNone/>
            </a:pPr>
            <a:endParaRPr lang="en-FI" dirty="0"/>
          </a:p>
          <a:p>
            <a:r>
              <a:rPr lang="en-FI" dirty="0"/>
              <a:t>P-value of difference: 0.018</a:t>
            </a:r>
            <a:br>
              <a:rPr lang="en-FI" dirty="0"/>
            </a:br>
            <a:r>
              <a:rPr lang="en-FI" dirty="0"/>
              <a:t>-&gt; self-distance tend to be smaller, baboons tend to retain their ego plot shape compared to baseline</a:t>
            </a:r>
          </a:p>
        </p:txBody>
      </p:sp>
      <p:pic>
        <p:nvPicPr>
          <p:cNvPr id="8" name="Picture 7" descr="A math equations with numbers and symbols&#10;&#10;Description automatically generated">
            <a:extLst>
              <a:ext uri="{FF2B5EF4-FFF2-40B4-BE49-F238E27FC236}">
                <a16:creationId xmlns:a16="http://schemas.microsoft.com/office/drawing/2014/main" id="{006243DB-8D6F-DB45-B155-CE290B88A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0" y="2412178"/>
            <a:ext cx="80645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030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552F4-B8E9-C148-8A29-C60D2840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Summary of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18B3C-FF44-7243-97BA-8537C2F1A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Higher-ranked baboons are more socially central (higher strength, clustering, closeness, and eigenvector central)</a:t>
            </a:r>
          </a:p>
          <a:p>
            <a:r>
              <a:rPr lang="en-FI" dirty="0"/>
              <a:t>Baboons with larger differences in social ranks tend to spend less time together</a:t>
            </a:r>
          </a:p>
          <a:p>
            <a:r>
              <a:rPr lang="en-FI" dirty="0"/>
              <a:t>Higher-ranked baboons tend to better retain social connections over time, but there’s no correlation between ranking and the persistence of the distribution of time spent with connections </a:t>
            </a:r>
          </a:p>
          <a:p>
            <a:r>
              <a:rPr lang="en-FI" dirty="0"/>
              <a:t>Baboons tend to maintain social signatures over time, both in the distribution of time spent with connections and the identity of those connections</a:t>
            </a:r>
          </a:p>
          <a:p>
            <a:endParaRPr lang="en-FI" dirty="0"/>
          </a:p>
          <a:p>
            <a:endParaRPr lang="en-FI" dirty="0"/>
          </a:p>
          <a:p>
            <a:endParaRPr lang="en-FI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905225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7BDA-5904-D643-BDBD-C63A9C9AE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>
                <a:solidFill>
                  <a:srgbClr val="C00000"/>
                </a:solidFill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E661E-194C-FC40-9C3B-8D4252708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  <a:tabLst>
                <a:tab pos="457200" algn="l"/>
              </a:tabLst>
            </a:pPr>
            <a:r>
              <a:rPr lang="en-F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Bonnell, T. R., Clarke, P. M., Henzi, S. P., &amp; Barrett, L.</a:t>
            </a:r>
            <a:r>
              <a:rPr lang="en-F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(2017). Individual-level movement bias leads to the formation of higher-order social structure in a mobile group of baboons. </a:t>
            </a:r>
            <a:r>
              <a:rPr lang="en-F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Royal Society Open Science</a:t>
            </a:r>
            <a:r>
              <a:rPr lang="en-F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F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F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170148. </a:t>
            </a:r>
            <a:r>
              <a:rPr lang="en-FI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https://doi.org/10.1098/rsos.170148</a:t>
            </a:r>
            <a:br>
              <a:rPr lang="en-FI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FI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F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Saramäki, J., Leicht, E. A., López, E., Roberts, S. G. B., Reed-Tsochas, F., &amp; Dunbar, R. I. M.</a:t>
            </a:r>
            <a:r>
              <a:rPr lang="en-F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(2014). Persistence of social signatures in human communication. </a:t>
            </a:r>
            <a:r>
              <a:rPr lang="en-F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Proceedings of the National Academy of Sciences of the United States of America</a:t>
            </a:r>
            <a:r>
              <a:rPr lang="en-F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F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</a:t>
            </a:r>
            <a:r>
              <a:rPr lang="en-F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(3), 942–947. </a:t>
            </a:r>
            <a:r>
              <a:rPr lang="en-FI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https://doi.org/10.1073/pnas.1308540110</a:t>
            </a:r>
            <a:endParaRPr lang="en-F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184089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37298</TotalTime>
  <Words>924</Words>
  <Application>Microsoft Macintosh PowerPoint</Application>
  <PresentationFormat>Widescreen</PresentationFormat>
  <Paragraphs>119</Paragraphs>
  <Slides>24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Understanding Social Structure in Baboon Proximity Networks</vt:lpstr>
      <vt:lpstr>Data</vt:lpstr>
      <vt:lpstr>Research focus</vt:lpstr>
      <vt:lpstr>Data </vt:lpstr>
      <vt:lpstr>Data interpolation</vt:lpstr>
      <vt:lpstr>Proximity network generation</vt:lpstr>
      <vt:lpstr>Average network</vt:lpstr>
      <vt:lpstr>Average network</vt:lpstr>
      <vt:lpstr>Correlation of node metrics with rank</vt:lpstr>
      <vt:lpstr>Correlation of edge weight with rank difference</vt:lpstr>
      <vt:lpstr>Average network by month</vt:lpstr>
      <vt:lpstr>Average network by temporal block</vt:lpstr>
      <vt:lpstr>Ego plots</vt:lpstr>
      <vt:lpstr>Ego plots: M1</vt:lpstr>
      <vt:lpstr>Ego plots: F1</vt:lpstr>
      <vt:lpstr>Ego plots: M2</vt:lpstr>
      <vt:lpstr>Persistance of top neighbors</vt:lpstr>
      <vt:lpstr>Correlation of top neighbors retention with rank </vt:lpstr>
      <vt:lpstr>Persistance of top neighbors</vt:lpstr>
      <vt:lpstr>Persistance of ego plot shape</vt:lpstr>
      <vt:lpstr>Correlation of ego plot shape retention with rank</vt:lpstr>
      <vt:lpstr>Persistance of ego plot shape</vt:lpstr>
      <vt:lpstr>Summary of key findings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Social Structure in Baboon Proximity Networks</dc:title>
  <dc:creator>Do Chau</dc:creator>
  <cp:lastModifiedBy>Do Chau</cp:lastModifiedBy>
  <cp:revision>2</cp:revision>
  <dcterms:created xsi:type="dcterms:W3CDTF">2025-05-08T12:42:27Z</dcterms:created>
  <dcterms:modified xsi:type="dcterms:W3CDTF">2025-06-03T10:21:09Z</dcterms:modified>
</cp:coreProperties>
</file>